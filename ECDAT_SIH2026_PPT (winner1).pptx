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9.png"/><Relationship Id="rId10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26164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Enterprise Cryptographic Discovery &amp; Analysis Tool (ECDAT)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[enter Team ID]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[enter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ECDAT — Discover → Quantify → Migrate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143000"/>
            <a:ext cx="11247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One air-gap-ready platform: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find every cryptographic asset, prove where it is, score quantum risk with Mosca, and plan the PQC / hybrid migration.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627632"/>
            <a:ext cx="45720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192024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566928" y="2011680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6" name="Picture 15365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116836"/>
            <a:ext cx="210312" cy="210312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060704" y="201168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DISCOVER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029967" y="2011680"/>
            <a:ext cx="62179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PS (i)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66928" y="2514600"/>
            <a:ext cx="2057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Source, dependencies, certificates, configs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Algorithms, keys, protocols, libraries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Evidence: file · line · rule · confidence</a:t>
            </a:r>
          </a:p>
        </p:txBody>
      </p:sp>
      <p:sp>
        <p:nvSpPr>
          <p:cNvPr id="15370" name="Chevron 15369"/>
          <p:cNvSpPr/>
          <p:nvPr/>
        </p:nvSpPr>
        <p:spPr>
          <a:xfrm>
            <a:off x="2715768" y="2834640"/>
            <a:ext cx="237744" cy="29260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Rounded Rectangle 15370"/>
          <p:cNvSpPr/>
          <p:nvPr/>
        </p:nvSpPr>
        <p:spPr>
          <a:xfrm>
            <a:off x="2971800" y="192024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Oval 15371"/>
          <p:cNvSpPr/>
          <p:nvPr/>
        </p:nvSpPr>
        <p:spPr>
          <a:xfrm>
            <a:off x="3081528" y="2011680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3" name="Picture 15372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684" y="2116836"/>
            <a:ext cx="210312" cy="210312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3575304" y="201168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QUANTIFY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544568" y="2011680"/>
            <a:ext cx="62179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PS (ii, iii)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3081528" y="2514600"/>
            <a:ext cx="2057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Shor / Grover / classically-broken class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HNDL &amp; TNFL threat labels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Type · lifetime · criticality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Mosca X + Y &gt; Z → risk 0⁠–⁠100</a:t>
            </a:r>
          </a:p>
        </p:txBody>
      </p:sp>
      <p:sp>
        <p:nvSpPr>
          <p:cNvPr id="15377" name="Chevron 15376"/>
          <p:cNvSpPr/>
          <p:nvPr/>
        </p:nvSpPr>
        <p:spPr>
          <a:xfrm>
            <a:off x="5230368" y="2834640"/>
            <a:ext cx="237744" cy="29260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Rounded Rectangle 15377"/>
          <p:cNvSpPr/>
          <p:nvPr/>
        </p:nvSpPr>
        <p:spPr>
          <a:xfrm>
            <a:off x="5486400" y="192024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Oval 15378"/>
          <p:cNvSpPr/>
          <p:nvPr/>
        </p:nvSpPr>
        <p:spPr>
          <a:xfrm>
            <a:off x="5596128" y="2011680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0" name="Picture 15379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284" y="2116836"/>
            <a:ext cx="210312" cy="210312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6089904" y="201168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MIGRATE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059168" y="2011680"/>
            <a:ext cx="62179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PS (iv)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5596128" y="2514600"/>
            <a:ext cx="2057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ML-KEM · ML-DSA · SLH-DSA · LMS/XMSS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Hybrid X25519 + ML-KEM-768 first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Effort + size impact per asset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▪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Export CycloneDX 1.6 CBOM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57200" y="4133087"/>
            <a:ext cx="722376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HOW IT ADDRESSES THE PROBLEM — MOSCA:  X + Y &gt; Z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457200" y="4425696"/>
            <a:ext cx="726948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6" name="Rectangle 15385"/>
          <p:cNvSpPr/>
          <p:nvPr/>
        </p:nvSpPr>
        <p:spPr>
          <a:xfrm>
            <a:off x="2683764" y="4498848"/>
            <a:ext cx="4402836" cy="969264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TextBox 15386"/>
          <p:cNvSpPr txBox="1"/>
          <p:nvPr/>
        </p:nvSpPr>
        <p:spPr>
          <a:xfrm>
            <a:off x="2729484" y="4507992"/>
            <a:ext cx="420624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Calibri"/>
              </a:rPr>
              <a:t>Z = 9 yrs  (2035 baseline scenario)  →  quantum-exposed zone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914400" y="4754880"/>
            <a:ext cx="982980" cy="32918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TextBox 15388"/>
          <p:cNvSpPr txBox="1"/>
          <p:nvPr/>
        </p:nvSpPr>
        <p:spPr>
          <a:xfrm>
            <a:off x="914400" y="4754880"/>
            <a:ext cx="98298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 = 5 yrs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1897380" y="4754880"/>
            <a:ext cx="49149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1897380" y="4754880"/>
            <a:ext cx="491490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X = 25 yrs  data / trust must stay secure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2683764" y="4681728"/>
            <a:ext cx="0" cy="54864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3" name="Connector 15392"/>
          <p:cNvCxnSpPr/>
          <p:nvPr/>
        </p:nvCxnSpPr>
        <p:spPr>
          <a:xfrm>
            <a:off x="914400" y="5230368"/>
            <a:ext cx="617220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4" name="Connector 15393"/>
          <p:cNvCxnSpPr/>
          <p:nvPr/>
        </p:nvCxnSpPr>
        <p:spPr>
          <a:xfrm>
            <a:off x="914400" y="5193792"/>
            <a:ext cx="0" cy="8229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5" name="TextBox 15394"/>
          <p:cNvSpPr txBox="1"/>
          <p:nvPr/>
        </p:nvSpPr>
        <p:spPr>
          <a:xfrm>
            <a:off x="502920" y="5276088"/>
            <a:ext cx="82296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Today 2026</a:t>
            </a:r>
          </a:p>
        </p:txBody>
      </p:sp>
      <p:cxnSp>
        <p:nvCxnSpPr>
          <p:cNvPr id="15396" name="Connector 15395"/>
          <p:cNvCxnSpPr/>
          <p:nvPr/>
        </p:nvCxnSpPr>
        <p:spPr>
          <a:xfrm>
            <a:off x="1700784" y="5193792"/>
            <a:ext cx="0" cy="8229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7" name="TextBox 15396"/>
          <p:cNvSpPr txBox="1"/>
          <p:nvPr/>
        </p:nvSpPr>
        <p:spPr>
          <a:xfrm>
            <a:off x="1289304" y="5276088"/>
            <a:ext cx="82296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2030</a:t>
            </a:r>
          </a:p>
        </p:txBody>
      </p:sp>
      <p:cxnSp>
        <p:nvCxnSpPr>
          <p:cNvPr id="15398" name="Connector 15397"/>
          <p:cNvCxnSpPr/>
          <p:nvPr/>
        </p:nvCxnSpPr>
        <p:spPr>
          <a:xfrm>
            <a:off x="2683764" y="5193792"/>
            <a:ext cx="0" cy="8229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TextBox 15398"/>
          <p:cNvSpPr txBox="1"/>
          <p:nvPr/>
        </p:nvSpPr>
        <p:spPr>
          <a:xfrm>
            <a:off x="2272284" y="5276088"/>
            <a:ext cx="82296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2035</a:t>
            </a:r>
          </a:p>
        </p:txBody>
      </p:sp>
      <p:cxnSp>
        <p:nvCxnSpPr>
          <p:cNvPr id="15400" name="Connector 15399"/>
          <p:cNvCxnSpPr/>
          <p:nvPr/>
        </p:nvCxnSpPr>
        <p:spPr>
          <a:xfrm>
            <a:off x="3666744" y="5193792"/>
            <a:ext cx="0" cy="8229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1" name="TextBox 15400"/>
          <p:cNvSpPr txBox="1"/>
          <p:nvPr/>
        </p:nvSpPr>
        <p:spPr>
          <a:xfrm>
            <a:off x="3255263" y="5276088"/>
            <a:ext cx="82296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2040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914400" y="5559552"/>
            <a:ext cx="6172200" cy="32918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3" name="TextBox 15402"/>
          <p:cNvSpPr txBox="1"/>
          <p:nvPr/>
        </p:nvSpPr>
        <p:spPr>
          <a:xfrm>
            <a:off x="914400" y="5559552"/>
            <a:ext cx="617220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 + Y = 30  &gt;  Z = 9   →   AT RISK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   (margin −21 yrs · illustrative)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640080" y="5907024"/>
            <a:ext cx="672084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Calibri"/>
              </a:rPr>
              <a:t>2030 aggressive · 2035 baseline · 2040 conservative — planning scenarios, not predictions of a CRQC date.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8092440" y="1627632"/>
            <a:ext cx="36576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8092440" y="1920240"/>
            <a:ext cx="3657600" cy="4261104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7" name="Oval 15406"/>
          <p:cNvSpPr/>
          <p:nvPr/>
        </p:nvSpPr>
        <p:spPr>
          <a:xfrm>
            <a:off x="8211312" y="20665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8" name="Picture 15407" descr="lay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468" y="2171700"/>
            <a:ext cx="210312" cy="210312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8732520" y="20116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Unified discovery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Source, deps, certs, configs in one workflow</a:t>
            </a:r>
          </a:p>
        </p:txBody>
      </p:sp>
      <p:sp>
        <p:nvSpPr>
          <p:cNvPr id="15410" name="Oval 15409"/>
          <p:cNvSpPr/>
          <p:nvPr/>
        </p:nvSpPr>
        <p:spPr>
          <a:xfrm>
            <a:off x="8211312" y="27523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1" name="Picture 15410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2857500"/>
            <a:ext cx="210312" cy="210312"/>
          </a:xfrm>
          <a:prstGeom prst="rect">
            <a:avLst/>
          </a:prstGeom>
        </p:spPr>
      </p:pic>
      <p:sp>
        <p:nvSpPr>
          <p:cNvPr id="15412" name="TextBox 15411"/>
          <p:cNvSpPr txBox="1"/>
          <p:nvPr/>
        </p:nvSpPr>
        <p:spPr>
          <a:xfrm>
            <a:off x="8732520" y="26974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Mosca per asset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Scenario selector: 2030 / 2035 / 2040</a:t>
            </a:r>
          </a:p>
        </p:txBody>
      </p:sp>
      <p:sp>
        <p:nvSpPr>
          <p:cNvPr id="15413" name="Oval 15412"/>
          <p:cNvSpPr/>
          <p:nvPr/>
        </p:nvSpPr>
        <p:spPr>
          <a:xfrm>
            <a:off x="8211312" y="34381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4" name="Picture 15413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6468" y="3543300"/>
            <a:ext cx="210312" cy="210312"/>
          </a:xfrm>
          <a:prstGeom prst="rect">
            <a:avLst/>
          </a:prstGeom>
        </p:spPr>
      </p:pic>
      <p:sp>
        <p:nvSpPr>
          <p:cNvPr id="15415" name="TextBox 15414"/>
          <p:cNvSpPr txBox="1"/>
          <p:nvPr/>
        </p:nvSpPr>
        <p:spPr>
          <a:xfrm>
            <a:off x="8732520" y="33832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HNDL + TNFL labels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Confidentiality vs authenticity risk, separated</a:t>
            </a:r>
          </a:p>
        </p:txBody>
      </p:sp>
      <p:sp>
        <p:nvSpPr>
          <p:cNvPr id="15416" name="Oval 15415"/>
          <p:cNvSpPr/>
          <p:nvPr/>
        </p:nvSpPr>
        <p:spPr>
          <a:xfrm>
            <a:off x="8211312" y="41239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7" name="Picture 15416" descr="cog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468" y="4229100"/>
            <a:ext cx="210312" cy="210312"/>
          </a:xfrm>
          <a:prstGeom prst="rect">
            <a:avLst/>
          </a:prstGeom>
        </p:spPr>
      </p:pic>
      <p:sp>
        <p:nvSpPr>
          <p:cNvPr id="15418" name="TextBox 15417"/>
          <p:cNvSpPr txBox="1"/>
          <p:nvPr/>
        </p:nvSpPr>
        <p:spPr>
          <a:xfrm>
            <a:off x="8732520" y="40690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Deterministic PQC map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Inspectable rules, hybrid-first advice</a:t>
            </a:r>
          </a:p>
        </p:txBody>
      </p:sp>
      <p:sp>
        <p:nvSpPr>
          <p:cNvPr id="15419" name="Oval 15418"/>
          <p:cNvSpPr/>
          <p:nvPr/>
        </p:nvSpPr>
        <p:spPr>
          <a:xfrm>
            <a:off x="8211312" y="48097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0" name="Picture 15419" descr="fi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6468" y="4914900"/>
            <a:ext cx="210312" cy="210312"/>
          </a:xfrm>
          <a:prstGeom prst="rect">
            <a:avLst/>
          </a:prstGeom>
        </p:spPr>
      </p:pic>
      <p:sp>
        <p:nvSpPr>
          <p:cNvPr id="15421" name="TextBox 15420"/>
          <p:cNvSpPr txBox="1"/>
          <p:nvPr/>
        </p:nvSpPr>
        <p:spPr>
          <a:xfrm>
            <a:off x="8732520" y="47548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Standard CBOM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CycloneDX 1.6, schema-validated</a:t>
            </a:r>
          </a:p>
        </p:txBody>
      </p:sp>
      <p:sp>
        <p:nvSpPr>
          <p:cNvPr id="15422" name="Oval 15421"/>
          <p:cNvSpPr/>
          <p:nvPr/>
        </p:nvSpPr>
        <p:spPr>
          <a:xfrm>
            <a:off x="8211312" y="54955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3" name="Picture 15422" descr="lo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468" y="5600700"/>
            <a:ext cx="210312" cy="210312"/>
          </a:xfrm>
          <a:prstGeom prst="rect">
            <a:avLst/>
          </a:prstGeom>
        </p:spPr>
      </p:pic>
      <p:sp>
        <p:nvSpPr>
          <p:cNvPr id="15424" name="TextBox 15423"/>
          <p:cNvSpPr txBox="1"/>
          <p:nvPr/>
        </p:nvSpPr>
        <p:spPr>
          <a:xfrm>
            <a:off x="8732520" y="5440680"/>
            <a:ext cx="29718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Air-gapped by design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Source code never leaves the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438912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1339596"/>
            <a:ext cx="173736" cy="173736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22960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1  INPUTS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Repo / ZIP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requirements.txt, pom.xml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PEM / DER certificates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Configs / IaC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Authorised TLS endpoint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300984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Binary / container image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2084831" y="2651760"/>
            <a:ext cx="201168" cy="27432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Rounded Rectangle 17420"/>
          <p:cNvSpPr/>
          <p:nvPr/>
        </p:nvSpPr>
        <p:spPr>
          <a:xfrm>
            <a:off x="2318918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2392070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938" y="1339596"/>
            <a:ext cx="173736" cy="173736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2776118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2  DISCOVER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410358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Python scanner (AST)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410358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Java scanner (rules)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410358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Dependency scanner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410358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Certificate scanner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2410358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Config / IaC scanner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410358" y="3300984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TLS probe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410358" y="3622852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Binary-lite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410358" y="3944721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Container-lite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4037990" y="2651760"/>
            <a:ext cx="201168" cy="27432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Rounded Rectangle 17433"/>
          <p:cNvSpPr/>
          <p:nvPr/>
        </p:nvSpPr>
        <p:spPr>
          <a:xfrm>
            <a:off x="4272076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4345228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lay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2096" y="1339596"/>
            <a:ext cx="173736" cy="173736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4729276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3  NORMALISE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363516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CryptoAsset schema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363516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De-duplication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363516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Evidence: file, line, rule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363516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Confidence scoring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63516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Dependency relations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5991148" y="2651760"/>
            <a:ext cx="201168" cy="27432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6225235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Oval 17444"/>
          <p:cNvSpPr/>
          <p:nvPr/>
        </p:nvSpPr>
        <p:spPr>
          <a:xfrm>
            <a:off x="6298387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5255" y="1339596"/>
            <a:ext cx="173736" cy="173736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6682435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4  ANALYSE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316675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Shor / Grover class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316675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HNDL / TNFL labels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316675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Lifetime · criticality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316675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Mosca: X + Y &gt; Z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316675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Risk score 0–100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316675" y="3300984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Crypto-agility flag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7944307" y="2651760"/>
            <a:ext cx="201168" cy="27432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ounded Rectangle 17454"/>
          <p:cNvSpPr/>
          <p:nvPr/>
        </p:nvSpPr>
        <p:spPr>
          <a:xfrm>
            <a:off x="8178393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8251545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rout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8413" y="1339596"/>
            <a:ext cx="173736" cy="173736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8635593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5  RECOMMEND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269833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Deterministic rule table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269833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ML-KEM / ML-DSA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8269833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SLH-DSA / LMS-XMSS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8269833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Hybrid X25519+ML-KEM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8269833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Migration effort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269833" y="3300984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Size impact (if known)</a:t>
            </a:r>
          </a:p>
        </p:txBody>
      </p:sp>
      <p:sp>
        <p:nvSpPr>
          <p:cNvPr id="17465" name="Right Arrow 17464"/>
          <p:cNvSpPr/>
          <p:nvPr/>
        </p:nvSpPr>
        <p:spPr>
          <a:xfrm>
            <a:off x="9897465" y="2651760"/>
            <a:ext cx="201168" cy="27432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Rounded Rectangle 17465"/>
          <p:cNvSpPr/>
          <p:nvPr/>
        </p:nvSpPr>
        <p:spPr>
          <a:xfrm>
            <a:off x="10131552" y="1188720"/>
            <a:ext cx="1691640" cy="3200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Oval 17466"/>
          <p:cNvSpPr/>
          <p:nvPr/>
        </p:nvSpPr>
        <p:spPr>
          <a:xfrm>
            <a:off x="10204704" y="125272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fi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1572" y="1339596"/>
            <a:ext cx="173736" cy="173736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10588752" y="1252728"/>
            <a:ext cx="121615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6  OUTPUT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10222992" y="1691640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CycloneDX 1.6 CBOM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10222992" y="2013508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Schema validation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10222992" y="2335377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Streamlit dashboard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10222992" y="2657246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Evidence + Mosca views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10222992" y="2979115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CSV export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10222992" y="3300984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PDF report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10222992" y="3622852"/>
            <a:ext cx="1508760" cy="2651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SARIF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365760" y="4553712"/>
            <a:ext cx="3840480" cy="162763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457200" y="4599432"/>
            <a:ext cx="36576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TECHNOLOGY STACK  (open-source · offline)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457200" y="4919472"/>
            <a:ext cx="86868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Python 3.11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1399032" y="4919472"/>
            <a:ext cx="114300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AST / tree-sitter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2615184" y="4919472"/>
            <a:ext cx="141732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cryptography (X.509)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457200" y="5248656"/>
            <a:ext cx="77724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jsonschema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1307592" y="5248656"/>
            <a:ext cx="91440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SQLite / JSON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2295144" y="5248656"/>
            <a:ext cx="73152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Streamlit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3099815" y="5248656"/>
            <a:ext cx="594360" cy="26517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Plotly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457200" y="5650992"/>
            <a:ext cx="36576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TextBox 17486"/>
          <p:cNvSpPr txBox="1"/>
          <p:nvPr/>
        </p:nvSpPr>
        <p:spPr>
          <a:xfrm>
            <a:off x="868680" y="5623560"/>
            <a:ext cx="32004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Calibri"/>
              </a:rPr>
              <a:t>MVP core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457200" y="5925312"/>
            <a:ext cx="36576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9" name="TextBox 17488"/>
          <p:cNvSpPr txBox="1"/>
          <p:nvPr/>
        </p:nvSpPr>
        <p:spPr>
          <a:xfrm>
            <a:off x="868680" y="5897880"/>
            <a:ext cx="329184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Optional (if time) / roadmap — not claimed as built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4389120" y="4553712"/>
            <a:ext cx="342900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1" name="Picture 17490" descr="chart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6440" y="4754880"/>
            <a:ext cx="548640" cy="548640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4480559" y="5358384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5CAD"/>
                </a:solidFill>
                <a:latin typeface="Calibri"/>
              </a:rPr>
              <a:t>INSERT REAL SCREENSHOT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4480559" y="5632704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Calibri"/>
              </a:rPr>
              <a:t>Dashboard: readiness · risk mix · top priorities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7955279" y="4553712"/>
            <a:ext cx="342900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5" name="Picture 17494" descr="chart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0" y="4754880"/>
            <a:ext cx="548640" cy="548640"/>
          </a:xfrm>
          <a:prstGeom prst="rect">
            <a:avLst/>
          </a:prstGeom>
        </p:spPr>
      </p:pic>
      <p:sp>
        <p:nvSpPr>
          <p:cNvPr id="17496" name="TextBox 17495"/>
          <p:cNvSpPr txBox="1"/>
          <p:nvPr/>
        </p:nvSpPr>
        <p:spPr>
          <a:xfrm>
            <a:off x="8046719" y="5358384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5CAD"/>
                </a:solidFill>
                <a:latin typeface="Calibri"/>
              </a:rPr>
              <a:t>INSERT REAL SCREENSHOT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8046719" y="5632704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Calibri"/>
              </a:rPr>
              <a:t>Asset detail: evidence · Mosca X/Y/Z ·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43000"/>
            <a:ext cx="36576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MVP  vs  ROADMAP  BOUNDARY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35608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57200" y="146304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E8E5A"/>
                </a:solidFill>
                <a:latin typeface="Calibri"/>
              </a:rPr>
              <a:t>MVP — prototype scope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755648"/>
            <a:ext cx="3429000" cy="1965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Python + Java discovery with evidence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requirements.txt + pom.xml parsing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X.509 certificate metadata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Mosca + transparent 0–100 risk score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Deterministic PQC / hybrid map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CycloneDX 1.6 CBOM + schema check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Streamlit dashboard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3886200"/>
            <a:ext cx="3611880" cy="1051560"/>
          </a:xfrm>
          <a:prstGeom prst="roundRect">
            <a:avLst>
              <a:gd name="adj" fmla="val 6000"/>
            </a:avLst>
          </a:prstGeom>
          <a:solidFill>
            <a:srgbClr val="FEF5E4"/>
          </a:solidFill>
          <a:ln w="9525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457200" y="3913632"/>
            <a:ext cx="34290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9770E"/>
                </a:solidFill>
                <a:latin typeface="Calibri"/>
              </a:rPr>
              <a:t>OPTIONAL — only if time permits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187952"/>
            <a:ext cx="3429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B2A41"/>
                </a:solidFill>
                <a:latin typeface="Calibri"/>
              </a:rPr>
              <a:t>TLS endpoint probe · binary-lite · container-lite · CSV / PDF / SARIF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5056632"/>
            <a:ext cx="3611880" cy="112471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457200" y="5084064"/>
            <a:ext cx="34290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ROADMAP — planned, not built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5358384"/>
            <a:ext cx="34290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B2A41"/>
                </a:solidFill>
                <a:latin typeface="Calibri"/>
              </a:rPr>
              <a:t>C/C++ · Go · Rust · deep binary analysis · live cloud APIs · runtime hooks · CI/CD at scale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206240" y="1143000"/>
            <a:ext cx="3931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CHALLENGES  →  MITIGATIONS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06240" y="1435608"/>
            <a:ext cx="1691640" cy="850392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224528" y="1435608"/>
            <a:ext cx="165506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Calibri"/>
              </a:rPr>
              <a:t>False positives / negatives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5925312" y="1728216"/>
            <a:ext cx="182880" cy="25603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Rounded Rectangle 17423"/>
          <p:cNvSpPr/>
          <p:nvPr/>
        </p:nvSpPr>
        <p:spPr>
          <a:xfrm>
            <a:off x="6135624" y="1435608"/>
            <a:ext cx="2011680" cy="850392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6153912" y="1435608"/>
            <a:ext cx="197510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1B2A41"/>
                </a:solidFill>
                <a:latin typeface="Calibri"/>
              </a:rPr>
              <a:t>Confidence + evidence per finding; measured on planted corpus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206240" y="2377440"/>
            <a:ext cx="1691640" cy="850392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4224528" y="2377440"/>
            <a:ext cx="165506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Calibri"/>
              </a:rPr>
              <a:t>Stripped / obfuscated binaries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5925312" y="2670048"/>
            <a:ext cx="182880" cy="25603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6135624" y="2377440"/>
            <a:ext cx="2011680" cy="850392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6153912" y="2377440"/>
            <a:ext cx="197510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1B2A41"/>
                </a:solidFill>
                <a:latin typeface="Calibri"/>
              </a:rPr>
              <a:t>Lower confidence reported; binary-lite = library / version level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06240" y="3319272"/>
            <a:ext cx="1691640" cy="850392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4224528" y="3319272"/>
            <a:ext cx="165506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Calibri"/>
              </a:rPr>
              <a:t>Unknown data lifetime (X)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5925312" y="3611879"/>
            <a:ext cx="182880" cy="25603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Rounded Rectangle 17433"/>
          <p:cNvSpPr/>
          <p:nvPr/>
        </p:nvSpPr>
        <p:spPr>
          <a:xfrm>
            <a:off x="6135624" y="3319272"/>
            <a:ext cx="2011680" cy="850392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6153912" y="3319272"/>
            <a:ext cx="197510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1B2A41"/>
                </a:solidFill>
                <a:latin typeface="Calibri"/>
              </a:rPr>
              <a:t>Editable defaults; simulator shows sensitivity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206240" y="4261104"/>
            <a:ext cx="1691640" cy="850392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4224528" y="4261104"/>
            <a:ext cx="165506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Calibri"/>
              </a:rPr>
              <a:t>Standards still evolving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5925312" y="4553712"/>
            <a:ext cx="182880" cy="25603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Rounded Rectangle 17438"/>
          <p:cNvSpPr/>
          <p:nvPr/>
        </p:nvSpPr>
        <p:spPr>
          <a:xfrm>
            <a:off x="6135624" y="4261104"/>
            <a:ext cx="2011680" cy="850392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6153912" y="4261104"/>
            <a:ext cx="197510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1B2A41"/>
                </a:solidFill>
                <a:latin typeface="Calibri"/>
              </a:rPr>
              <a:t>Versioned rule base; only finalised FIPS recommended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206240" y="5202936"/>
            <a:ext cx="1691640" cy="850392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4224528" y="5202936"/>
            <a:ext cx="165506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Calibri"/>
              </a:rPr>
              <a:t>Untrusted repos, live scans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5925312" y="5495544"/>
            <a:ext cx="182880" cy="25603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6135624" y="5202936"/>
            <a:ext cx="2011680" cy="850392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6153912" y="5202936"/>
            <a:ext cx="1975104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1B2A41"/>
                </a:solidFill>
                <a:latin typeface="Calibri"/>
              </a:rPr>
              <a:t>Static analysis only · authorised allow-list · no private keys stored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366760" y="1143000"/>
            <a:ext cx="33832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VIABILITY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8366760" y="154533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8" name="Picture 17447" descr="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645920"/>
            <a:ext cx="201168" cy="201168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8869680" y="1435608"/>
            <a:ext cx="28803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Open-source stack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Zero licence cost, auditable code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8366760" y="225856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359152"/>
            <a:ext cx="201168" cy="201168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8869680" y="2148840"/>
            <a:ext cx="28803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Air-gapped ready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Runs on one laptop / server, offline</a:t>
            </a:r>
          </a:p>
        </p:txBody>
      </p:sp>
      <p:sp>
        <p:nvSpPr>
          <p:cNvPr id="17453" name="Oval 17452"/>
          <p:cNvSpPr/>
          <p:nvPr/>
        </p:nvSpPr>
        <p:spPr>
          <a:xfrm>
            <a:off x="8366760" y="2971800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cog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072384"/>
            <a:ext cx="201168" cy="201168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8869680" y="2862072"/>
            <a:ext cx="28803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Extensible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Add scanners without changing the asset schema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366760" y="3639312"/>
            <a:ext cx="33832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MEASURED ON CONTROLLED CORPUS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366760" y="3931920"/>
            <a:ext cx="3383280" cy="2249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Rounded Rectangle 17457"/>
          <p:cNvSpPr/>
          <p:nvPr/>
        </p:nvSpPr>
        <p:spPr>
          <a:xfrm>
            <a:off x="8476488" y="402336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8476488" y="404164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476488" y="431596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Planted assets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0104119" y="402336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10104119" y="404164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10104119" y="431596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Detected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476488" y="466344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8476488" y="468172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476488" y="495604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Missed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10104119" y="466344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10104119" y="468172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0104119" y="495604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False positives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8476488" y="530352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8476488" y="532180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8476488" y="559612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Scan time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10104119" y="5303520"/>
            <a:ext cx="1517904" cy="5669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10104119" y="5321808"/>
            <a:ext cx="151790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____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10104119" y="5596128"/>
            <a:ext cx="151790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CBOM schema check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8412480" y="5943600"/>
            <a:ext cx="329184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Calibri"/>
              </a:rPr>
              <a:t>Fill from the actual run — reproducible values only.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4434840" cy="201168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66928" y="1225296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TODAY — manual, unprioritised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572768"/>
            <a:ext cx="4206240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✖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Unknown where RSA / ECC / SHA-1 live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✖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Spreadsheet inventories go stale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✖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No way to rank what to fix first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✖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No standard artefact for audit or vendors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440680" y="1737360"/>
            <a:ext cx="1307592" cy="130759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ECDAT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956048" y="2212848"/>
            <a:ext cx="420624" cy="34747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ight Arrow 17414"/>
          <p:cNvSpPr/>
          <p:nvPr/>
        </p:nvSpPr>
        <p:spPr>
          <a:xfrm>
            <a:off x="6812280" y="2212848"/>
            <a:ext cx="420624" cy="34747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7296912" y="1188720"/>
            <a:ext cx="4434840" cy="201168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95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406640" y="1225296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E8E5A"/>
                </a:solidFill>
                <a:latin typeface="Calibri"/>
              </a:rPr>
              <a:t>WITH ECDAT — automated, ranked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06640" y="1572768"/>
            <a:ext cx="4206240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Repeatable cryptographic inventory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Mosca-ranked quantum risk per asset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PQC / hybrid migration path per finding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E8E5A"/>
                </a:solidFill>
                <a:latin typeface="Calibri"/>
              </a:rPr>
              <a:t>✔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Standard CycloneDX 1.6 CBOM for audit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401568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566928" y="3648456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753612"/>
            <a:ext cx="210312" cy="210312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1097280" y="3438144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Cryptographic inventory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Every algorithm, key, cert, library — with file &amp; line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297680" y="3401568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4407408" y="3648456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3753612"/>
            <a:ext cx="210312" cy="21031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937760" y="3438144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HNDL / TNFL protection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Confidentiality and authenticity risk labelled separately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138160" y="3401568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8247888" y="3648456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9" name="Picture 17428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044" y="3753612"/>
            <a:ext cx="210312" cy="21031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778240" y="3438144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Migration planning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Priority order, PQC / hybrid target, effort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7200" y="44348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566928" y="4681727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cli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4786883"/>
            <a:ext cx="210312" cy="21031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97280" y="4471416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Procurement &amp; audit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CBOM artefact for audit and vendor assurance*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297680" y="44348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4407408" y="4681727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tool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564" y="4786883"/>
            <a:ext cx="210312" cy="210312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4937760" y="4471416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Developer remediation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Evidence tells engineers exactly what to change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138160" y="443484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8247888" y="4681727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ban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044" y="4786883"/>
            <a:ext cx="210312" cy="210312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8778240" y="4471416"/>
            <a:ext cx="297180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Government / CII fit</a:t>
            </a:r>
          </a:p>
          <a:p>
            <a:pPr algn="l"/>
            <a:r>
              <a:rPr sz="1050" b="0" i="0">
                <a:solidFill>
                  <a:srgbClr val="1B2A41"/>
                </a:solidFill>
                <a:latin typeface="Calibri"/>
              </a:rPr>
              <a:t>Air-gapped: source code never leaves the environment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57200" y="5513832"/>
            <a:ext cx="118872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WHO BENEFITS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737360" y="5513832"/>
            <a:ext cx="150876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NTRO &amp; agencies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337560" y="5513832"/>
            <a:ext cx="132588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CII operators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754880" y="5513832"/>
            <a:ext cx="118872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Government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035040" y="5513832"/>
            <a:ext cx="11430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Enterprises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269480" y="5513832"/>
            <a:ext cx="100584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Vendors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366760" y="5513832"/>
            <a:ext cx="109728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Developers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*India DST / NQM Task Force report (Feb 2026): cryptographic inventory first, crypto-agility, CBOM in procurement (targeted from FY 2027–28).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2344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566928" y="1316736"/>
            <a:ext cx="402336" cy="40233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ce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417320"/>
            <a:ext cx="201168" cy="20116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051560" y="1316736"/>
            <a:ext cx="205740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STANDARDS &amp; POLICY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1810512"/>
            <a:ext cx="2478024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NIST FIPS 203 / 204 / 205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ML-KEM, ML-DSA, SLH-DSA (Aug 2024)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NIST SP 800-208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LMS / XMSS hash-based signatures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NIST IR 8547 (draft)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PQC transition planning — draft, not a mandate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NIST SP 1800-38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PQC migration guidance (NCCoE)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NSA CNSA 2.0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National-security algorithm suite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2344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3447288" y="1316736"/>
            <a:ext cx="402336" cy="40233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f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1417320"/>
            <a:ext cx="201168" cy="201168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931920" y="1316736"/>
            <a:ext cx="205740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CBOM &amp; TOOLING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47288" y="1810512"/>
            <a:ext cx="2478024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CycloneDX 1.6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cryptographic-asset component (CBOM)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IBM Research CBOM / CBOMkit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sonar-cryptography, cbomkit-theia (GitHub)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Open Quantum Safe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liboqs — PQC reference library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OpenSSL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Reference library used as validation target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12344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6327648" y="1316736"/>
            <a:ext cx="402336" cy="40233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boo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417320"/>
            <a:ext cx="201168" cy="201168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812280" y="1316736"/>
            <a:ext cx="205740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RESEARCH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27648" y="1810512"/>
            <a:ext cx="2478024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M. Mosca, IEEE S&amp;P, 2018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Will we be ready? — the X + Y &gt; Z framework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C. Gidney, arXiv:2505.15917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RSA-2048 with &lt; 1M noisy qubits (2025 estimate)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Gidney &amp; Ekerå, arXiv:1905.09749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2019 baseline: ~20M qubits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98280" y="12344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9208008" y="1316736"/>
            <a:ext cx="402336" cy="40233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7" name="Picture 17426" descr="fla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92" y="1417320"/>
            <a:ext cx="201168" cy="201168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692640" y="1316736"/>
            <a:ext cx="205740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INDIA POLICY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208008" y="1810512"/>
            <a:ext cx="2478024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DST / NQM Task Force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Implementation of Quantum-Safe Ecosystem in India (Feb 2026), dst.gov.in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ORF analysis (Mar 2026)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India’s PQC migration roadmap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Ideas used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A41"/>
                </a:solidFill>
                <a:latin typeface="Calibri"/>
              </a:rPr>
              <a:t>Inventory first · crypto-agility · CBOM in procurement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5074920"/>
            <a:ext cx="11338560" cy="10972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594360" y="5120640"/>
            <a:ext cx="36576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5CAD"/>
                </a:solidFill>
                <a:latin typeface="Calibri"/>
              </a:rPr>
              <a:t>VALIDATION DATA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5440680"/>
            <a:ext cx="3611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Controlled ground-truth corpus</a:t>
            </a:r>
          </a:p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planted Python / Java findings, certs, configs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343400" y="5440680"/>
            <a:ext cx="3611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Open-source targets</a:t>
            </a:r>
          </a:p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e.g. OpenSSL, Bouncy Castle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92440" y="5440680"/>
            <a:ext cx="3611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Reporting rule</a:t>
            </a:r>
          </a:p>
          <a:p>
            <a:pPr algn="ctr"/>
            <a:r>
              <a:rPr sz="1000" b="0" i="0">
                <a:solidFill>
                  <a:srgbClr val="1B2A41"/>
                </a:solidFill>
                <a:latin typeface="Calibri"/>
              </a:rPr>
              <a:t>only measured values appear in this deck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